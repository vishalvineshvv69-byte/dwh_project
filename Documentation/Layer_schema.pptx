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4315-B953-3628-79BF-8B7174088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CE8AF-FF40-C4B8-C81B-1E550295E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56A6-DE50-CB78-EE55-E892449B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A44F9-4C5C-6BB7-B4D6-2C949B09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6D8C0-3F34-36BA-5B39-D6F26F72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7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3659-E517-BA5D-5623-8FB8DB74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1B134-8B37-93DB-9A8A-1A1B0B7C4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B46E9-ADF9-3F9B-5867-1F941988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B8F8-5C98-4499-E850-D05EF1DF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6F6E5-762A-44DC-5AE1-2248960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5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37D6-AF52-D4A5-8484-43DFA0F0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57F8F-1B20-DB62-65FB-0855CD56C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EE0A5-E7CA-70C3-EE6D-A4BBC6D3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05B07-0131-742B-880C-7A961FC1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6ACBB-57F6-85D9-F9DC-2AC7AC55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9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4C3AB-51C7-E734-966E-ABC99A3C7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9815-F1C7-3514-289C-8BED7C25B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8E18F-FFEF-0E86-2C9F-2DA202093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C7068-A32D-3469-F386-6C2B133D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E9AC-CEA3-0DC3-D2F1-24BDB7F4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4047F-A695-9DD8-7D9B-65F666D6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3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B74C-1457-53E7-1E8A-A92F7286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9B327-83E1-BE92-B36F-48F7BA429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FABB1-5CE7-B09E-CF7E-9055591E2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8BAD1-054A-5ED6-EFF1-A8730D182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8AC0B-9BBE-D928-01C6-4A09C3F64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0AB3E4-8772-7AC3-39E3-887182BDF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08649-1C9E-369C-462D-1DEA1AD1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485AB-E3D1-58A7-A302-F90A58FA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8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05DD-5AAB-60B8-1C42-D20E9DB1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1B24A-9326-D2BB-EEBF-1C11565E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6436D-7B17-D68C-53D1-27556047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8498F-7CE3-897D-4D4D-4466A525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9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AED65-BFEB-2904-F04B-873EA70DA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14EE6-6D8C-26C0-C132-A91AF047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1B4A8-D7CD-3FD7-D920-95C487C9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7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F37F-3730-613A-CA29-32BFB2D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09CE1-3388-9E4E-4060-C19F99307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D75-301D-9D7A-6987-9CAF63B46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D8452-BBAC-A39B-CD95-EB8B105A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BB2DD-A394-6A6F-A778-DC9FEA88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59CF-CBC8-6A64-2FDA-BFF28E6B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1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8380-1702-6BC7-529C-43EC8E6E0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46DC8-DD4D-2AD2-32AB-53AA2FC5C6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6B027-9BC4-ED87-4EC1-476C0D5DE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AAD93-2B1F-14E4-1300-4B4F3763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80EAB-58B4-6320-6FA7-CB738E01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5851C-C9A2-8AFC-06C8-39633D2E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8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7A10-3EBF-A331-A1F6-A7617352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F132B-18CF-15E2-BEBB-33E2BF87F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A053-D636-3265-FE23-A295C0EB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8C425-774D-CA55-B0A4-0A58E579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D4364-2238-A1DF-334D-35637BCD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1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84B38-8D9C-5354-B536-EDDCFE23A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DB137-D6A4-2D40-0095-8A57848D7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7A3FA-BA50-3D24-E539-8ABA9AFF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7D01D-5416-863E-338A-DD3A721D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35C3B-3C68-DA4D-5F06-24B13BE2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7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60B7E-45D7-6C3D-76B3-435B8846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76B2-6C77-D2C8-1072-A5420C145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53A97-AE9F-AED1-33DE-6BE8A635D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F28F8-C9D1-422A-871C-7480703C9556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6D87B-341B-3F28-ED21-F7F7AFAC5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22EB8-E251-666D-22BD-90CA33F66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891E0-3576-4296-B978-30D91473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8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8E03065A-5256-6309-69DE-B1D26CF5FB08}"/>
              </a:ext>
            </a:extLst>
          </p:cNvPr>
          <p:cNvGrpSpPr/>
          <p:nvPr/>
        </p:nvGrpSpPr>
        <p:grpSpPr>
          <a:xfrm>
            <a:off x="428086" y="195035"/>
            <a:ext cx="11661835" cy="6364680"/>
            <a:chOff x="428086" y="87874"/>
            <a:chExt cx="11661835" cy="636468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29CBFBE-3F7D-F505-DB92-9C40D9D77A9C}"/>
                </a:ext>
              </a:extLst>
            </p:cNvPr>
            <p:cNvGrpSpPr/>
            <p:nvPr/>
          </p:nvGrpSpPr>
          <p:grpSpPr>
            <a:xfrm>
              <a:off x="428086" y="87874"/>
              <a:ext cx="11661835" cy="6364680"/>
              <a:chOff x="428086" y="87874"/>
              <a:chExt cx="11661835" cy="6364680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D9A53739-9EBE-0F62-C5F6-489CC6048D50}"/>
                  </a:ext>
                </a:extLst>
              </p:cNvPr>
              <p:cNvSpPr/>
              <p:nvPr/>
            </p:nvSpPr>
            <p:spPr>
              <a:xfrm>
                <a:off x="428086" y="319713"/>
                <a:ext cx="1630393" cy="6047117"/>
              </a:xfrm>
              <a:prstGeom prst="roundRect">
                <a:avLst/>
              </a:prstGeom>
              <a:ln>
                <a:solidFill>
                  <a:schemeClr val="bg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99FB3EAD-F34D-0210-C89F-A3E1388086E5}"/>
                  </a:ext>
                </a:extLst>
              </p:cNvPr>
              <p:cNvSpPr/>
              <p:nvPr/>
            </p:nvSpPr>
            <p:spPr>
              <a:xfrm>
                <a:off x="2338298" y="276850"/>
                <a:ext cx="7841411" cy="6132841"/>
              </a:xfrm>
              <a:prstGeom prst="roundRect">
                <a:avLst/>
              </a:prstGeom>
              <a:ln>
                <a:solidFill>
                  <a:schemeClr val="bg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0A4BB18-6EBD-95BC-D5F9-56619D8A448C}"/>
                  </a:ext>
                </a:extLst>
              </p:cNvPr>
              <p:cNvSpPr/>
              <p:nvPr/>
            </p:nvSpPr>
            <p:spPr>
              <a:xfrm>
                <a:off x="10459528" y="405437"/>
                <a:ext cx="1630393" cy="6047117"/>
              </a:xfrm>
              <a:prstGeom prst="roundRect">
                <a:avLst/>
              </a:prstGeom>
              <a:ln>
                <a:solidFill>
                  <a:schemeClr val="bg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E94A177F-2F4B-32D3-3AC0-B5B27DB30AE2}"/>
                  </a:ext>
                </a:extLst>
              </p:cNvPr>
              <p:cNvSpPr/>
              <p:nvPr/>
            </p:nvSpPr>
            <p:spPr>
              <a:xfrm>
                <a:off x="10762620" y="191124"/>
                <a:ext cx="1024208" cy="428625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14DF1D1D-8A16-2867-88F7-6642D0247366}"/>
                  </a:ext>
                </a:extLst>
              </p:cNvPr>
              <p:cNvSpPr/>
              <p:nvPr/>
            </p:nvSpPr>
            <p:spPr>
              <a:xfrm>
                <a:off x="4144453" y="87874"/>
                <a:ext cx="4229100" cy="428626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791881B1-D134-13FC-BBF2-DCBBD28A37CE}"/>
                  </a:ext>
                </a:extLst>
              </p:cNvPr>
              <p:cNvSpPr/>
              <p:nvPr/>
            </p:nvSpPr>
            <p:spPr>
              <a:xfrm>
                <a:off x="721476" y="191123"/>
                <a:ext cx="1024208" cy="428625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dk1"/>
                  </a:solidFill>
                </a:endParaRPr>
              </a:p>
            </p:txBody>
          </p:sp>
        </p:grpSp>
        <p:pic>
          <p:nvPicPr>
            <p:cNvPr id="16" name="Graphic 15" descr="Document with solid fill">
              <a:extLst>
                <a:ext uri="{FF2B5EF4-FFF2-40B4-BE49-F238E27FC236}">
                  <a16:creationId xmlns:a16="http://schemas.microsoft.com/office/drawing/2014/main" id="{DF2FB6FF-6216-C4F1-550A-900565FDB6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1476" y="1289239"/>
              <a:ext cx="914400" cy="914400"/>
            </a:xfrm>
            <a:prstGeom prst="rect">
              <a:avLst/>
            </a:prstGeom>
          </p:spPr>
        </p:pic>
        <p:pic>
          <p:nvPicPr>
            <p:cNvPr id="25" name="Graphic 24" descr="Document with solid fill">
              <a:extLst>
                <a:ext uri="{FF2B5EF4-FFF2-40B4-BE49-F238E27FC236}">
                  <a16:creationId xmlns:a16="http://schemas.microsoft.com/office/drawing/2014/main" id="{77E37835-D796-F450-9B4B-774F5D7AFE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1476" y="4782939"/>
              <a:ext cx="914400" cy="914400"/>
            </a:xfrm>
            <a:prstGeom prst="rect">
              <a:avLst/>
            </a:prstGeom>
          </p:spPr>
        </p:pic>
        <p:pic>
          <p:nvPicPr>
            <p:cNvPr id="42" name="Graphic 41" descr="Document with solid fill">
              <a:extLst>
                <a:ext uri="{FF2B5EF4-FFF2-40B4-BE49-F238E27FC236}">
                  <a16:creationId xmlns:a16="http://schemas.microsoft.com/office/drawing/2014/main" id="{A2AE03AF-D10D-696A-C925-947E57613D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1476" y="3036089"/>
              <a:ext cx="914400" cy="914400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07E2EE9-3525-55CD-AC58-2DB59DC942BE}"/>
                </a:ext>
              </a:extLst>
            </p:cNvPr>
            <p:cNvSpPr txBox="1"/>
            <p:nvPr/>
          </p:nvSpPr>
          <p:spPr>
            <a:xfrm>
              <a:off x="831911" y="220769"/>
              <a:ext cx="879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Grorgia"/>
                </a:rPr>
                <a:t>Source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CCB63915-0B57-7901-1A76-B4A7F9AE5AF4}"/>
              </a:ext>
            </a:extLst>
          </p:cNvPr>
          <p:cNvSpPr/>
          <p:nvPr/>
        </p:nvSpPr>
        <p:spPr>
          <a:xfrm>
            <a:off x="2855343" y="1190445"/>
            <a:ext cx="1897812" cy="353683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5484C4-35B3-6774-1C2B-D1E7D4FAC194}"/>
              </a:ext>
            </a:extLst>
          </p:cNvPr>
          <p:cNvSpPr/>
          <p:nvPr/>
        </p:nvSpPr>
        <p:spPr>
          <a:xfrm>
            <a:off x="5147094" y="1190444"/>
            <a:ext cx="1897812" cy="35368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C7A5A6-AF24-E7C6-5D43-DFEDA83B1AC0}"/>
              </a:ext>
            </a:extLst>
          </p:cNvPr>
          <p:cNvSpPr/>
          <p:nvPr/>
        </p:nvSpPr>
        <p:spPr>
          <a:xfrm>
            <a:off x="7438845" y="1190444"/>
            <a:ext cx="1897812" cy="353683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AE3C3F-13A8-BE87-6E8E-26B5A8CA3FE2}"/>
              </a:ext>
            </a:extLst>
          </p:cNvPr>
          <p:cNvSpPr/>
          <p:nvPr/>
        </p:nvSpPr>
        <p:spPr>
          <a:xfrm>
            <a:off x="2855343" y="1609769"/>
            <a:ext cx="1897812" cy="4342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B5FFBC6-CA0E-AD9B-1DD5-AB34E7E7AE40}"/>
              </a:ext>
            </a:extLst>
          </p:cNvPr>
          <p:cNvSpPr/>
          <p:nvPr/>
        </p:nvSpPr>
        <p:spPr>
          <a:xfrm>
            <a:off x="5147094" y="1629854"/>
            <a:ext cx="1897812" cy="4342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DB31B0-7BEC-316B-1A7B-B57F89A89D14}"/>
              </a:ext>
            </a:extLst>
          </p:cNvPr>
          <p:cNvSpPr/>
          <p:nvPr/>
        </p:nvSpPr>
        <p:spPr>
          <a:xfrm>
            <a:off x="7438845" y="1629854"/>
            <a:ext cx="1897812" cy="4342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759251-759B-2E17-F777-A46622E05D2E}"/>
              </a:ext>
            </a:extLst>
          </p:cNvPr>
          <p:cNvSpPr txBox="1"/>
          <p:nvPr/>
        </p:nvSpPr>
        <p:spPr>
          <a:xfrm>
            <a:off x="5147094" y="199786"/>
            <a:ext cx="30019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Grorgia"/>
              </a:rPr>
              <a:t>Medallion Architecture</a:t>
            </a:r>
          </a:p>
          <a:p>
            <a:endParaRPr lang="en-US" dirty="0"/>
          </a:p>
        </p:txBody>
      </p:sp>
      <p:pic>
        <p:nvPicPr>
          <p:cNvPr id="55" name="Graphic 54" descr="Database with solid fill">
            <a:extLst>
              <a:ext uri="{FF2B5EF4-FFF2-40B4-BE49-F238E27FC236}">
                <a16:creationId xmlns:a16="http://schemas.microsoft.com/office/drawing/2014/main" id="{27EAB22E-112C-B536-3567-36CC0E28AA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7049" y="1779031"/>
            <a:ext cx="914400" cy="914400"/>
          </a:xfrm>
          <a:prstGeom prst="rect">
            <a:avLst/>
          </a:prstGeom>
        </p:spPr>
      </p:pic>
      <p:pic>
        <p:nvPicPr>
          <p:cNvPr id="56" name="Graphic 55" descr="Database with solid fill">
            <a:extLst>
              <a:ext uri="{FF2B5EF4-FFF2-40B4-BE49-F238E27FC236}">
                <a16:creationId xmlns:a16="http://schemas.microsoft.com/office/drawing/2014/main" id="{7A4B83B6-0D13-1A92-A9C8-0F16EAC268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1779031"/>
            <a:ext cx="914400" cy="914400"/>
          </a:xfrm>
          <a:prstGeom prst="rect">
            <a:avLst/>
          </a:prstGeom>
        </p:spPr>
      </p:pic>
      <p:pic>
        <p:nvPicPr>
          <p:cNvPr id="57" name="Graphic 56" descr="Database with solid fill">
            <a:extLst>
              <a:ext uri="{FF2B5EF4-FFF2-40B4-BE49-F238E27FC236}">
                <a16:creationId xmlns:a16="http://schemas.microsoft.com/office/drawing/2014/main" id="{73BE33FA-D939-3375-1832-F6ABB6CA3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0551" y="1779031"/>
            <a:ext cx="914400" cy="9144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6228946-C4DF-2594-DAEF-AFCB7A1D0781}"/>
              </a:ext>
            </a:extLst>
          </p:cNvPr>
          <p:cNvCxnSpPr>
            <a:cxnSpLocks/>
          </p:cNvCxnSpPr>
          <p:nvPr/>
        </p:nvCxnSpPr>
        <p:spPr>
          <a:xfrm>
            <a:off x="3060221" y="2798902"/>
            <a:ext cx="148805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A9E33DF-8BD7-B374-3D0D-623ABB418857}"/>
              </a:ext>
            </a:extLst>
          </p:cNvPr>
          <p:cNvCxnSpPr>
            <a:cxnSpLocks/>
          </p:cNvCxnSpPr>
          <p:nvPr/>
        </p:nvCxnSpPr>
        <p:spPr>
          <a:xfrm>
            <a:off x="5351972" y="2850661"/>
            <a:ext cx="148805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F287EBF-809E-739F-C72D-BBD14DD71747}"/>
              </a:ext>
            </a:extLst>
          </p:cNvPr>
          <p:cNvCxnSpPr>
            <a:cxnSpLocks/>
          </p:cNvCxnSpPr>
          <p:nvPr/>
        </p:nvCxnSpPr>
        <p:spPr>
          <a:xfrm>
            <a:off x="7643723" y="2850661"/>
            <a:ext cx="148805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077F6CF-E942-181C-98F3-1CDFE0FE9F1F}"/>
              </a:ext>
            </a:extLst>
          </p:cNvPr>
          <p:cNvSpPr txBox="1"/>
          <p:nvPr/>
        </p:nvSpPr>
        <p:spPr>
          <a:xfrm>
            <a:off x="3389642" y="1190444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Bronze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47CA72-5136-A54C-A1F3-0AA0F6FAFF6D}"/>
              </a:ext>
            </a:extLst>
          </p:cNvPr>
          <p:cNvSpPr txBox="1"/>
          <p:nvPr/>
        </p:nvSpPr>
        <p:spPr>
          <a:xfrm>
            <a:off x="5808363" y="1181907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Silver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28F623-A97F-5F0C-A632-A273772DF204}"/>
              </a:ext>
            </a:extLst>
          </p:cNvPr>
          <p:cNvSpPr txBox="1"/>
          <p:nvPr/>
        </p:nvSpPr>
        <p:spPr>
          <a:xfrm>
            <a:off x="8092027" y="1177276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Gold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CD084D-AA9F-E74B-15B4-4451B4A75379}"/>
              </a:ext>
            </a:extLst>
          </p:cNvPr>
          <p:cNvSpPr txBox="1"/>
          <p:nvPr/>
        </p:nvSpPr>
        <p:spPr>
          <a:xfrm>
            <a:off x="2814458" y="5551311"/>
            <a:ext cx="2913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200" b="0" dirty="0">
                <a:solidFill>
                  <a:schemeClr val="tx1"/>
                </a:solidFill>
                <a:effectLst/>
                <a:latin typeface="+mn-lt"/>
              </a:rPr>
              <a:t>Raw data exactly as received</a:t>
            </a:r>
            <a:endParaRPr lang="en-IN" sz="800" b="0" dirty="0">
              <a:solidFill>
                <a:srgbClr val="DDDDDD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4D830C-56E0-CD53-7577-3AA7826D998D}"/>
              </a:ext>
            </a:extLst>
          </p:cNvPr>
          <p:cNvSpPr txBox="1"/>
          <p:nvPr/>
        </p:nvSpPr>
        <p:spPr>
          <a:xfrm>
            <a:off x="5335708" y="5228146"/>
            <a:ext cx="1520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dirty="0">
                <a:solidFill>
                  <a:schemeClr val="tx1"/>
                </a:solidFill>
                <a:effectLst/>
                <a:latin typeface="+mn-lt"/>
              </a:rPr>
              <a:t>Cleaned,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dirty="0">
                <a:solidFill>
                  <a:schemeClr val="tx1"/>
                </a:solidFill>
                <a:effectLst/>
                <a:latin typeface="+mn-lt"/>
              </a:rPr>
              <a:t>typed,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0" dirty="0">
                <a:solidFill>
                  <a:schemeClr val="tx1"/>
                </a:solidFill>
                <a:effectLst/>
                <a:latin typeface="+mn-lt"/>
              </a:rPr>
              <a:t>de-duplicated data</a:t>
            </a:r>
            <a:endParaRPr lang="en-IN" sz="800" b="0" dirty="0">
              <a:solidFill>
                <a:srgbClr val="DDDDDD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78E3C2-1493-E2E8-F847-3518470427B8}"/>
              </a:ext>
            </a:extLst>
          </p:cNvPr>
          <p:cNvSpPr txBox="1"/>
          <p:nvPr/>
        </p:nvSpPr>
        <p:spPr>
          <a:xfrm>
            <a:off x="7468050" y="5551311"/>
            <a:ext cx="19714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200" b="0" dirty="0">
                <a:solidFill>
                  <a:schemeClr val="tx1"/>
                </a:solidFill>
                <a:effectLst/>
                <a:latin typeface="+mn-lt"/>
              </a:rPr>
              <a:t>Reports the business reads</a:t>
            </a:r>
            <a:endParaRPr lang="en-IN" sz="800" b="0" dirty="0">
              <a:solidFill>
                <a:srgbClr val="DDDDDD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B4E9A4-E98B-D9A2-E6B4-9A04C940414B}"/>
              </a:ext>
            </a:extLst>
          </p:cNvPr>
          <p:cNvSpPr txBox="1"/>
          <p:nvPr/>
        </p:nvSpPr>
        <p:spPr>
          <a:xfrm>
            <a:off x="10772322" y="298284"/>
            <a:ext cx="1214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Grorgia"/>
              </a:rPr>
              <a:t>Outcome</a:t>
            </a:r>
            <a:endParaRPr lang="en-US" dirty="0"/>
          </a:p>
        </p:txBody>
      </p:sp>
      <p:pic>
        <p:nvPicPr>
          <p:cNvPr id="79" name="Graphic 78" descr="Bar chart with solid fill">
            <a:extLst>
              <a:ext uri="{FF2B5EF4-FFF2-40B4-BE49-F238E27FC236}">
                <a16:creationId xmlns:a16="http://schemas.microsoft.com/office/drawing/2014/main" id="{9F04C184-3BE4-3F86-9DD6-5258F4BD3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49514" y="2886682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F1B5E7-9E21-01D7-BAEA-85D0B78C5C64}"/>
              </a:ext>
            </a:extLst>
          </p:cNvPr>
          <p:cNvSpPr/>
          <p:nvPr/>
        </p:nvSpPr>
        <p:spPr>
          <a:xfrm>
            <a:off x="1027533" y="2051468"/>
            <a:ext cx="718151" cy="25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CSV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B474A6-4746-02F6-558A-127BB2384DA9}"/>
              </a:ext>
            </a:extLst>
          </p:cNvPr>
          <p:cNvSpPr/>
          <p:nvPr/>
        </p:nvSpPr>
        <p:spPr>
          <a:xfrm>
            <a:off x="1057634" y="3801082"/>
            <a:ext cx="718151" cy="25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CSV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546828-B1CB-B35A-F307-3E112335BEEA}"/>
              </a:ext>
            </a:extLst>
          </p:cNvPr>
          <p:cNvSpPr/>
          <p:nvPr/>
        </p:nvSpPr>
        <p:spPr>
          <a:xfrm>
            <a:off x="1057634" y="5550376"/>
            <a:ext cx="718151" cy="25933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CSV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111FFE-02C1-C963-C8E6-BDEEFFD13541}"/>
              </a:ext>
            </a:extLst>
          </p:cNvPr>
          <p:cNvSpPr/>
          <p:nvPr/>
        </p:nvSpPr>
        <p:spPr>
          <a:xfrm>
            <a:off x="3249732" y="3285087"/>
            <a:ext cx="1095555" cy="6441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500F28-6DD0-E215-512D-352FA293B0B2}"/>
              </a:ext>
            </a:extLst>
          </p:cNvPr>
          <p:cNvSpPr/>
          <p:nvPr/>
        </p:nvSpPr>
        <p:spPr>
          <a:xfrm>
            <a:off x="5548222" y="3285087"/>
            <a:ext cx="1095555" cy="6441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310FF01-6047-3021-AB88-374E842AE20C}"/>
              </a:ext>
            </a:extLst>
          </p:cNvPr>
          <p:cNvSpPr/>
          <p:nvPr/>
        </p:nvSpPr>
        <p:spPr>
          <a:xfrm>
            <a:off x="7856328" y="3278582"/>
            <a:ext cx="1095555" cy="6441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70EB2B4-9E75-6458-61E2-4FB0AF10DAB8}"/>
              </a:ext>
            </a:extLst>
          </p:cNvPr>
          <p:cNvSpPr/>
          <p:nvPr/>
        </p:nvSpPr>
        <p:spPr>
          <a:xfrm>
            <a:off x="1906978" y="2921659"/>
            <a:ext cx="730907" cy="507341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AF87C9A-443C-DE2D-7956-E1C2771A70D4}"/>
              </a:ext>
            </a:extLst>
          </p:cNvPr>
          <p:cNvSpPr/>
          <p:nvPr/>
        </p:nvSpPr>
        <p:spPr>
          <a:xfrm>
            <a:off x="9919568" y="2943090"/>
            <a:ext cx="730907" cy="507341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26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28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Grorgia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jadhav</dc:creator>
  <cp:lastModifiedBy>vishal jadhav</cp:lastModifiedBy>
  <cp:revision>2</cp:revision>
  <dcterms:created xsi:type="dcterms:W3CDTF">2026-10-26T17:38:42Z</dcterms:created>
  <dcterms:modified xsi:type="dcterms:W3CDTF">2026-10-29T04:23:25Z</dcterms:modified>
</cp:coreProperties>
</file>